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6" r:id="rId2"/>
    <p:sldId id="271" r:id="rId3"/>
    <p:sldId id="356" r:id="rId4"/>
    <p:sldId id="274" r:id="rId5"/>
    <p:sldId id="272" r:id="rId6"/>
    <p:sldId id="273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348" r:id="rId16"/>
    <p:sldId id="353" r:id="rId17"/>
    <p:sldId id="354" r:id="rId18"/>
    <p:sldId id="283" r:id="rId19"/>
    <p:sldId id="284" r:id="rId20"/>
    <p:sldId id="285" r:id="rId21"/>
    <p:sldId id="286" r:id="rId22"/>
    <p:sldId id="287" r:id="rId23"/>
    <p:sldId id="349" r:id="rId24"/>
    <p:sldId id="288" r:id="rId25"/>
    <p:sldId id="289" r:id="rId26"/>
    <p:sldId id="313" r:id="rId27"/>
    <p:sldId id="314" r:id="rId28"/>
    <p:sldId id="317" r:id="rId29"/>
    <p:sldId id="318" r:id="rId30"/>
    <p:sldId id="319" r:id="rId31"/>
    <p:sldId id="320" r:id="rId32"/>
    <p:sldId id="321" r:id="rId33"/>
    <p:sldId id="322" r:id="rId34"/>
    <p:sldId id="316" r:id="rId35"/>
    <p:sldId id="325" r:id="rId36"/>
    <p:sldId id="326" r:id="rId37"/>
    <p:sldId id="327" r:id="rId38"/>
    <p:sldId id="346" r:id="rId39"/>
    <p:sldId id="347" r:id="rId40"/>
    <p:sldId id="350" r:id="rId41"/>
    <p:sldId id="351" r:id="rId42"/>
    <p:sldId id="328" r:id="rId43"/>
    <p:sldId id="329" r:id="rId44"/>
    <p:sldId id="330" r:id="rId45"/>
    <p:sldId id="331" r:id="rId46"/>
    <p:sldId id="332" r:id="rId47"/>
    <p:sldId id="333" r:id="rId48"/>
    <p:sldId id="315" r:id="rId49"/>
    <p:sldId id="334" r:id="rId50"/>
    <p:sldId id="33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Agenda" id="{B9B51309-D148-4332-87C2-07BE32FBCA3B}">
          <p14:sldIdLst>
            <p14:sldId id="271"/>
            <p14:sldId id="356"/>
            <p14:sldId id="274"/>
          </p14:sldIdLst>
        </p14:section>
        <p14:section name="Section I - Introduction to Databases" id="{44AF4A3E-F153-4B41-B8D0-8D8CA75B4028}">
          <p14:sldIdLst>
            <p14:sldId id="272"/>
            <p14:sldId id="273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348"/>
            <p14:sldId id="353"/>
            <p14:sldId id="354"/>
            <p14:sldId id="283"/>
            <p14:sldId id="284"/>
            <p14:sldId id="285"/>
            <p14:sldId id="286"/>
            <p14:sldId id="287"/>
            <p14:sldId id="349"/>
            <p14:sldId id="288"/>
            <p14:sldId id="289"/>
            <p14:sldId id="313"/>
            <p14:sldId id="314"/>
            <p14:sldId id="317"/>
            <p14:sldId id="318"/>
            <p14:sldId id="319"/>
            <p14:sldId id="320"/>
            <p14:sldId id="321"/>
            <p14:sldId id="322"/>
            <p14:sldId id="316"/>
            <p14:sldId id="325"/>
            <p14:sldId id="326"/>
            <p14:sldId id="327"/>
            <p14:sldId id="346"/>
            <p14:sldId id="347"/>
            <p14:sldId id="350"/>
            <p14:sldId id="351"/>
            <p14:sldId id="328"/>
            <p14:sldId id="329"/>
            <p14:sldId id="330"/>
            <p14:sldId id="331"/>
            <p14:sldId id="332"/>
            <p14:sldId id="333"/>
            <p14:sldId id="315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923922"/>
    <a:srgbClr val="404040"/>
    <a:srgbClr val="D24726"/>
    <a:srgbClr val="FF9B45"/>
    <a:srgbClr val="F8CFB6"/>
    <a:srgbClr val="F8CAB6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95" autoAdjust="0"/>
    <p:restoredTop sz="94280" autoAdjust="0"/>
  </p:normalViewPr>
  <p:slideViewPr>
    <p:cSldViewPr snapToGrid="0">
      <p:cViewPr varScale="1">
        <p:scale>
          <a:sx n="128" d="100"/>
          <a:sy n="128" d="100"/>
        </p:scale>
        <p:origin x="92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3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4952" y="262787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4" y="26517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41612" y="1431014"/>
            <a:ext cx="441362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8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8" y="448056"/>
            <a:ext cx="6117336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478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5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6711" y="443128"/>
            <a:ext cx="6425700" cy="641350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/>
          </p:nvPr>
        </p:nvSpPr>
        <p:spPr>
          <a:xfrm>
            <a:off x="6942412" y="1828847"/>
            <a:ext cx="441362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58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254954" y="262787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254952" y="262788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4436" y="1061482"/>
            <a:ext cx="4350803" cy="0"/>
          </a:xfrm>
          <a:prstGeom prst="line">
            <a:avLst/>
          </a:prstGeom>
          <a:ln w="28575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41611" y="2560643"/>
            <a:ext cx="9442648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6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txStyles>
    <p:titleStyle>
      <a:lvl1pPr algn="l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3wyd6J3yjc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qlalchemy.org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tutorials.jenkov.com/jdbc/index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rcobehler.com/make-it-so-java-db-connections-and-transactions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com/story/null-license-plate-landed-one-hacker-ticket-hell/" TargetMode="External"/><Relationship Id="rId2" Type="http://schemas.openxmlformats.org/officeDocument/2006/relationships/hyperlink" Target="https://hackernoon.com/voice-command-sql-injection-hack-uncovered-for-alexa-9914x3zw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nextweb.com/insider/2016/03/27/last-name-null-is-tough-for-computers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SQL Fundamentals for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8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Thomas Nield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bg1"/>
                </a:solidFill>
                <a:latin typeface="+mj-lt"/>
              </a:rPr>
              <a:t>O’Reilly Media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17"/>
          <p:cNvSpPr txBox="1">
            <a:spLocks/>
          </p:cNvSpPr>
          <p:nvPr/>
        </p:nvSpPr>
        <p:spPr>
          <a:xfrm>
            <a:off x="541611" y="1296102"/>
            <a:ext cx="7109491" cy="3871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The role of databases and SQL in the business, data science, and data engineering landscape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Understand relational databases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Query and transform data with SQL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Database Design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Writing data in tables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What to Expect in the Next Two Days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Supplementary Material </a:t>
            </a:r>
          </a:p>
        </p:txBody>
      </p:sp>
      <p:pic>
        <p:nvPicPr>
          <p:cNvPr id="1026" name="Picture 2" descr="Getting Started with SQL">
            <a:extLst>
              <a:ext uri="{FF2B5EF4-FFF2-40B4-BE49-F238E27FC236}">
                <a16:creationId xmlns:a16="http://schemas.microsoft.com/office/drawing/2014/main" id="{8CC6672A-0E5F-0830-A40F-A97513B1B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409" y="1520687"/>
            <a:ext cx="3653182" cy="4794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60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17"/>
          <p:cNvSpPr txBox="1">
            <a:spLocks/>
          </p:cNvSpPr>
          <p:nvPr/>
        </p:nvSpPr>
        <p:spPr>
          <a:xfrm>
            <a:off x="541611" y="1296102"/>
            <a:ext cx="7109491" cy="3871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  <a:defRPr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Why Learn SQL?</a:t>
            </a:r>
          </a:p>
        </p:txBody>
      </p:sp>
      <p:sp>
        <p:nvSpPr>
          <p:cNvPr id="2" name="Rectangle 1"/>
          <p:cNvSpPr/>
          <p:nvPr/>
        </p:nvSpPr>
        <p:spPr>
          <a:xfrm>
            <a:off x="601267" y="1296102"/>
            <a:ext cx="84756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Business, data science, and technology professionals can both reap benefits from learning SQL.</a:t>
            </a:r>
          </a:p>
          <a:p>
            <a:endParaRPr lang="en-US" dirty="0"/>
          </a:p>
          <a:p>
            <a:r>
              <a:rPr lang="en-US" dirty="0"/>
              <a:t>SQL is a highly lucrative skill to have according to </a:t>
            </a:r>
            <a:r>
              <a:rPr lang="en-US" dirty="0" err="1"/>
              <a:t>StackOverflow’s</a:t>
            </a:r>
            <a:r>
              <a:rPr lang="en-US" dirty="0"/>
              <a:t> Annual Survey.</a:t>
            </a:r>
          </a:p>
          <a:p>
            <a:endParaRPr lang="en-US" dirty="0"/>
          </a:p>
          <a:p>
            <a:r>
              <a:rPr lang="en-US" dirty="0"/>
              <a:t>It can be utilized and open up many career paths in both business and IT.</a:t>
            </a:r>
          </a:p>
          <a:p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/>
              <a:t>Business Side - Analytical, data science, managerial, strategic, research, and project roles</a:t>
            </a:r>
          </a:p>
          <a:p>
            <a:pPr marL="285744" indent="-285744">
              <a:buFont typeface="Arial" panose="020B0604020202020204" pitchFamily="34" charset="0"/>
              <a:buChar char="•"/>
            </a:pPr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/>
              <a:t>Technology Side - Database design, database administration (DBA), data engineering, systems engineering, IT project management, machine learning, and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01714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Section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8"/>
            <a:ext cx="9582736" cy="1137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Introduction to Databases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923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17"/>
          <p:cNvSpPr txBox="1">
            <a:spLocks/>
          </p:cNvSpPr>
          <p:nvPr/>
        </p:nvSpPr>
        <p:spPr>
          <a:xfrm>
            <a:off x="541611" y="1296102"/>
            <a:ext cx="7109491" cy="3871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  <a:defRPr/>
            </a:pP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What is a Database?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8" y="1427222"/>
            <a:ext cx="876622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Broad definition: A </a:t>
            </a:r>
            <a:r>
              <a:rPr lang="en-US" i="1" dirty="0"/>
              <a:t>database</a:t>
            </a:r>
            <a:r>
              <a:rPr lang="en-US" dirty="0"/>
              <a:t> is anything that collects and organizes data</a:t>
            </a:r>
          </a:p>
          <a:p>
            <a:endParaRPr lang="en-US" dirty="0"/>
          </a:p>
          <a:p>
            <a:r>
              <a:rPr lang="en-US" dirty="0"/>
              <a:t>Examples: </a:t>
            </a:r>
          </a:p>
          <a:p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/>
              <a:t>Excel spreadsheets</a:t>
            </a:r>
          </a:p>
          <a:p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/>
              <a:t>Text files (CSV, XML, JSON)</a:t>
            </a:r>
          </a:p>
          <a:p>
            <a:endParaRPr lang="en-US" dirty="0"/>
          </a:p>
          <a:p>
            <a:pPr marL="285744" indent="-285744">
              <a:buFont typeface="Arial" panose="020B0604020202020204" pitchFamily="34" charset="0"/>
              <a:buChar char="•"/>
            </a:pPr>
            <a:r>
              <a:rPr lang="en-US" dirty="0"/>
              <a:t>File cabinet with organized documents</a:t>
            </a:r>
          </a:p>
          <a:p>
            <a:endParaRPr lang="en-US" dirty="0"/>
          </a:p>
          <a:p>
            <a:r>
              <a:rPr lang="en-US" dirty="0"/>
              <a:t>When referred to professionally, a database is typically a Relational Database Management System (RDBMS)</a:t>
            </a:r>
          </a:p>
        </p:txBody>
      </p:sp>
    </p:spTree>
    <p:extLst>
      <p:ext uri="{BB962C8B-B14F-4D97-AF65-F5344CB8AC3E}">
        <p14:creationId xmlns:p14="http://schemas.microsoft.com/office/powerpoint/2010/main" val="29196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3" y="1431013"/>
            <a:ext cx="6289495" cy="397827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Relational Database Management System</a:t>
            </a:r>
            <a:r>
              <a:rPr lang="en-US" dirty="0"/>
              <a:t> is simply a type of database holding tables that may have relationships</a:t>
            </a:r>
          </a:p>
          <a:p>
            <a:r>
              <a:rPr lang="en-US" dirty="0"/>
              <a:t>A field in a table can point to another table for information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Relational Databases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2" y="3127865"/>
            <a:ext cx="5835816" cy="30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4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6683941" cy="3978275"/>
          </a:xfrm>
        </p:spPr>
        <p:txBody>
          <a:bodyPr/>
          <a:lstStyle/>
          <a:p>
            <a:r>
              <a:rPr lang="en-US" dirty="0"/>
              <a:t>This idea of separating different types of data (e.g. CUSTOMER versus a CUSTOMER_ORDER) is known as </a:t>
            </a:r>
            <a:r>
              <a:rPr lang="en-US" b="1" dirty="0"/>
              <a:t>normalization</a:t>
            </a:r>
          </a:p>
          <a:p>
            <a:r>
              <a:rPr lang="en-US" dirty="0"/>
              <a:t>Putting both </a:t>
            </a:r>
            <a:r>
              <a:rPr lang="en-US" i="1" dirty="0"/>
              <a:t>CUSTOMER</a:t>
            </a:r>
            <a:r>
              <a:rPr lang="en-US" dirty="0"/>
              <a:t> and </a:t>
            </a:r>
            <a:r>
              <a:rPr lang="en-US" i="1" dirty="0"/>
              <a:t>CUSTOMER_ORDER</a:t>
            </a:r>
            <a:r>
              <a:rPr lang="en-US" dirty="0"/>
              <a:t> information in one table would be bloated, redundant and difficult to maintain</a:t>
            </a:r>
          </a:p>
          <a:p>
            <a:r>
              <a:rPr lang="en-US" dirty="0"/>
              <a:t>Example of a non-normalized table: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Separate Tables?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3613055"/>
            <a:ext cx="11201068" cy="14878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3581010"/>
            <a:ext cx="11201068" cy="14878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9364" y="5240310"/>
            <a:ext cx="4711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Imagine if we needed to change an address. </a:t>
            </a:r>
          </a:p>
          <a:p>
            <a:r>
              <a:rPr lang="en-US" dirty="0">
                <a:solidFill>
                  <a:srgbClr val="FF0000"/>
                </a:solidFill>
              </a:rPr>
              <a:t>We would have to do it three times!</a:t>
            </a:r>
          </a:p>
        </p:txBody>
      </p:sp>
    </p:spTree>
    <p:extLst>
      <p:ext uri="{BB962C8B-B14F-4D97-AF65-F5344CB8AC3E}">
        <p14:creationId xmlns:p14="http://schemas.microsoft.com/office/powerpoint/2010/main" val="427722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6096932" cy="3978275"/>
          </a:xfrm>
        </p:spPr>
        <p:txBody>
          <a:bodyPr/>
          <a:lstStyle/>
          <a:p>
            <a:r>
              <a:rPr lang="en-US" dirty="0"/>
              <a:t>This is why it is better to separate the </a:t>
            </a:r>
            <a:r>
              <a:rPr lang="en-US" dirty="0">
                <a:solidFill>
                  <a:srgbClr val="FF0000"/>
                </a:solidFill>
              </a:rPr>
              <a:t>CUSTOMER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CUSTOMER_ORDER</a:t>
            </a:r>
            <a:r>
              <a:rPr lang="en-US" dirty="0"/>
              <a:t> information into separate tables</a:t>
            </a:r>
          </a:p>
          <a:p>
            <a:r>
              <a:rPr lang="en-US" dirty="0"/>
              <a:t>You only need to update the address in one place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Separate Tables?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68" y="3011323"/>
            <a:ext cx="5835816" cy="30684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68" y="4932984"/>
            <a:ext cx="5756761" cy="111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4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Is this table normalized?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25" y="2154649"/>
            <a:ext cx="8238846" cy="207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4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Is this table normalized? </a:t>
            </a:r>
            <a:r>
              <a:rPr lang="en-US" b="1" dirty="0">
                <a:solidFill>
                  <a:srgbClr val="FF0000"/>
                </a:solidFill>
              </a:rPr>
              <a:t>It is not!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25" y="2154649"/>
            <a:ext cx="8238846" cy="20731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25" y="2154649"/>
            <a:ext cx="8238846" cy="207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0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7777075" cy="397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PATIENT and APPOINTMENT data should be in separate tables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37" y="2003612"/>
            <a:ext cx="6821581" cy="38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49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7777075" cy="397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PATIENT and APPOINTMENT data should be in separate tables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37" y="2003612"/>
            <a:ext cx="6821582" cy="38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5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8952012" cy="5346304"/>
          </a:xfrm>
        </p:spPr>
        <p:txBody>
          <a:bodyPr>
            <a:normAutofit/>
          </a:bodyPr>
          <a:lstStyle/>
          <a:p>
            <a:r>
              <a:rPr lang="en-US" dirty="0"/>
              <a:t>Relational databases and SQL are not proprietary to one company or organization</a:t>
            </a:r>
          </a:p>
          <a:p>
            <a:r>
              <a:rPr lang="en-US" dirty="0"/>
              <a:t>Many companies and organizations have created their own relational database software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not be confused by “SQL” being used to brand database software, like Microsoft SQL Server, MySQL, and SQLite. SQL is the universal language used on all RDBMS platforms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Databases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91494"/>
              </p:ext>
            </p:extLst>
          </p:nvPr>
        </p:nvGraphicFramePr>
        <p:xfrm>
          <a:off x="2020788" y="2790513"/>
          <a:ext cx="81279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835">
                  <a:extLst>
                    <a:ext uri="{9D8B030D-6E8A-4147-A177-3AD203B41FA5}">
                      <a16:colId xmlns:a16="http://schemas.microsoft.com/office/drawing/2014/main" val="577046256"/>
                    </a:ext>
                  </a:extLst>
                </a:gridCol>
                <a:gridCol w="2698377">
                  <a:extLst>
                    <a:ext uri="{9D8B030D-6E8A-4147-A177-3AD203B41FA5}">
                      <a16:colId xmlns:a16="http://schemas.microsoft.com/office/drawing/2014/main" val="2722137477"/>
                    </a:ext>
                  </a:extLst>
                </a:gridCol>
                <a:gridCol w="4052787">
                  <a:extLst>
                    <a:ext uri="{9D8B030D-6E8A-4147-A177-3AD203B41FA5}">
                      <a16:colId xmlns:a16="http://schemas.microsoft.com/office/drawing/2014/main" val="2184718804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MySQL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Oracle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IBM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DB2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Microsoft Access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Microsoft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 SQL Server</a:t>
                      </a:r>
                    </a:p>
                    <a:p>
                      <a:endParaRPr lang="en-US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PostgreSQL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SQLite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MariaDB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SAP Sybase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74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177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61EE14-BEFE-471E-9EE5-A9461015F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934527" cy="5426986"/>
          </a:xfrm>
        </p:spPr>
        <p:txBody>
          <a:bodyPr>
            <a:normAutofit/>
          </a:bodyPr>
          <a:lstStyle/>
          <a:p>
            <a:r>
              <a:rPr lang="en-US" b="1" dirty="0"/>
              <a:t>NoSQL</a:t>
            </a:r>
            <a:r>
              <a:rPr lang="en-US" dirty="0"/>
              <a:t> stands for </a:t>
            </a:r>
            <a:r>
              <a:rPr lang="en-US" i="1" dirty="0"/>
              <a:t>not only SQL</a:t>
            </a:r>
            <a:r>
              <a:rPr lang="en-US" dirty="0"/>
              <a:t>, and is often used to describe “Big Data” platforms that may leverage SQL but are not relational.</a:t>
            </a:r>
          </a:p>
          <a:p>
            <a:pPr lvl="1"/>
            <a:r>
              <a:rPr lang="en-US" sz="1600" dirty="0"/>
              <a:t>NoSQL databases include MongoDB, </a:t>
            </a:r>
            <a:r>
              <a:rPr lang="en-US" sz="1600" dirty="0" err="1"/>
              <a:t>Couchbase</a:t>
            </a:r>
            <a:r>
              <a:rPr lang="en-US" sz="1600" dirty="0"/>
              <a:t>, Apache Cassandra, and </a:t>
            </a:r>
            <a:r>
              <a:rPr lang="en-US" sz="1600" dirty="0" err="1"/>
              <a:t>Redis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These platforms store massive amounts of data in a variety of raw and unstructured formats (e.g. </a:t>
            </a:r>
            <a:r>
              <a:rPr lang="en-US" sz="1600" i="1" dirty="0"/>
              <a:t>documents, key-value</a:t>
            </a:r>
            <a:r>
              <a:rPr lang="en-US" sz="1600" dirty="0"/>
              <a:t>). </a:t>
            </a:r>
          </a:p>
          <a:p>
            <a:pPr lvl="1"/>
            <a:r>
              <a:rPr lang="en-US" sz="1600" dirty="0"/>
              <a:t>Most of these solutions are </a:t>
            </a:r>
            <a:r>
              <a:rPr lang="en-US" sz="1600" b="1" dirty="0"/>
              <a:t>distributed</a:t>
            </a:r>
            <a:r>
              <a:rPr lang="en-US" sz="1600" dirty="0"/>
              <a:t> across multiple machines, which is difficult to do with relational databases.</a:t>
            </a:r>
          </a:p>
          <a:p>
            <a:r>
              <a:rPr lang="en-US" dirty="0"/>
              <a:t>Other “Big Data” solutions such as Apache Hadoop and Apache Spark can be interacted with using SQL, but are not limited to relational databases.</a:t>
            </a:r>
          </a:p>
          <a:p>
            <a:r>
              <a:rPr lang="en-US" dirty="0"/>
              <a:t>Therefore most of the knowledge in this course can be applied to “Big Data” solutions.</a:t>
            </a:r>
          </a:p>
          <a:p>
            <a:r>
              <a:rPr lang="en-US" dirty="0"/>
              <a:t>Caution using NoSQL and Big Data: “When all you have is a hammer, everything starts to look like a nail.”</a:t>
            </a:r>
          </a:p>
          <a:p>
            <a:pPr lvl="1"/>
            <a:r>
              <a:rPr lang="en-US" sz="1600" dirty="0"/>
              <a:t>Do not fall into the trap of treating all data problems as Big Data problems, because most are not. </a:t>
            </a:r>
          </a:p>
          <a:p>
            <a:pPr lvl="1"/>
            <a:r>
              <a:rPr lang="en-US" sz="1600" b="1" dirty="0"/>
              <a:t>Be aware of the “Silver Bullet Syndrome”: </a:t>
            </a:r>
            <a:r>
              <a:rPr lang="en-US" sz="1600" dirty="0">
                <a:hlinkClick r:id="rId2"/>
              </a:rPr>
              <a:t>https://www.youtube.com/watch?v=3wyd6J3yjcs</a:t>
            </a:r>
            <a:r>
              <a:rPr lang="en-US" sz="1600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BD2ABF-BA90-4987-A304-1E26F123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and “Big Data”	</a:t>
            </a:r>
          </a:p>
        </p:txBody>
      </p:sp>
    </p:spTree>
    <p:extLst>
      <p:ext uri="{BB962C8B-B14F-4D97-AF65-F5344CB8AC3E}">
        <p14:creationId xmlns:p14="http://schemas.microsoft.com/office/powerpoint/2010/main" val="424239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4E08B0-C6BF-4D72-9F5C-8B1C7EBB52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90216451"/>
              </p:ext>
            </p:extLst>
          </p:nvPr>
        </p:nvGraphicFramePr>
        <p:xfrm>
          <a:off x="521208" y="1296115"/>
          <a:ext cx="10689371" cy="5217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77001">
                  <a:extLst>
                    <a:ext uri="{9D8B030D-6E8A-4147-A177-3AD203B41FA5}">
                      <a16:colId xmlns:a16="http://schemas.microsoft.com/office/drawing/2014/main" val="962204757"/>
                    </a:ext>
                  </a:extLst>
                </a:gridCol>
                <a:gridCol w="3036277">
                  <a:extLst>
                    <a:ext uri="{9D8B030D-6E8A-4147-A177-3AD203B41FA5}">
                      <a16:colId xmlns:a16="http://schemas.microsoft.com/office/drawing/2014/main" val="1970293240"/>
                    </a:ext>
                  </a:extLst>
                </a:gridCol>
                <a:gridCol w="3223847">
                  <a:extLst>
                    <a:ext uri="{9D8B030D-6E8A-4147-A177-3AD203B41FA5}">
                      <a16:colId xmlns:a16="http://schemas.microsoft.com/office/drawing/2014/main" val="1000897455"/>
                    </a:ext>
                  </a:extLst>
                </a:gridCol>
                <a:gridCol w="1852246">
                  <a:extLst>
                    <a:ext uri="{9D8B030D-6E8A-4147-A177-3AD203B41FA5}">
                      <a16:colId xmlns:a16="http://schemas.microsoft.com/office/drawing/2014/main" val="1810161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137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Integrity/Consistency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Data is enforced with logical relationships, minimized redundancy, and “Up-to-date” consistency.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Simple key-value and document storage does not enforce any rules or structure. Redundancy and write latency is common.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52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Design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Easy to “add” to database, but harder to modify.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NoSQL can quickly and arbitrarily change what data </a:t>
                      </a:r>
                      <a:r>
                        <a:rPr lang="en-US" sz="1600"/>
                        <a:t>it stores.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48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 is a universal language that makes accessing and analyzing data simple.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 support is sparse, and proprietary languages are esoteric and hardly universal.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56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Programmers of Java, Python, and .NET have to map entities to tables, which can be tedious. But data integrity is given.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Programming against a NoSQL database is quick and simple, but onus is on programmer to validate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Draw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253949"/>
                  </a:ext>
                </a:extLst>
              </a:tr>
              <a:tr h="213237">
                <a:tc>
                  <a:txBody>
                    <a:bodyPr/>
                    <a:lstStyle/>
                    <a:p>
                      <a:r>
                        <a:rPr lang="en-US" sz="1600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Relational databases can store data for most use cases, but struggle with true “big data” cases. Integrity constraints also slow down performance.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NoSQL is capable of storing vast amounts of data with horizontal scaling. It also performs quickly due to horizontal scaling and no integrity constraints.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15575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9CF66B0-8D57-445A-A9B1-B7EC0E0E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vs NoSQL</a:t>
            </a:r>
          </a:p>
        </p:txBody>
      </p:sp>
    </p:spTree>
    <p:extLst>
      <p:ext uri="{BB962C8B-B14F-4D97-AF65-F5344CB8AC3E}">
        <p14:creationId xmlns:p14="http://schemas.microsoft.com/office/powerpoint/2010/main" val="587583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0EA337-FF32-4F18-A024-B734A8300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7973214" cy="397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SQL = integrity and accuracy</a:t>
            </a:r>
          </a:p>
          <a:p>
            <a:pPr marL="0" indent="0">
              <a:buNone/>
            </a:pPr>
            <a:r>
              <a:rPr lang="en-US" dirty="0"/>
              <a:t>NoSQL = speed and scalability</a:t>
            </a:r>
          </a:p>
          <a:p>
            <a:pPr marL="0" indent="0">
              <a:buNone/>
            </a:pPr>
            <a:r>
              <a:rPr lang="en-US" dirty="0"/>
              <a:t>SQL should be a prerequisite before learning NoSQL and “Big data”.</a:t>
            </a:r>
          </a:p>
          <a:p>
            <a:pPr marL="0" indent="0">
              <a:buNone/>
            </a:pPr>
            <a:r>
              <a:rPr lang="en-US" dirty="0"/>
              <a:t>If you are absolutely uncertain which to use, always start with SQL.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EF236F-DC3A-498E-BB37-9CF46CF5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versus NoSQL Summary</a:t>
            </a:r>
          </a:p>
        </p:txBody>
      </p:sp>
    </p:spTree>
    <p:extLst>
      <p:ext uri="{BB962C8B-B14F-4D97-AF65-F5344CB8AC3E}">
        <p14:creationId xmlns:p14="http://schemas.microsoft.com/office/powerpoint/2010/main" val="4099794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255" y="2473136"/>
            <a:ext cx="906663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Lightweight vs Centralized Databases</a:t>
            </a:r>
          </a:p>
        </p:txBody>
      </p:sp>
    </p:spTree>
    <p:extLst>
      <p:ext uri="{BB962C8B-B14F-4D97-AF65-F5344CB8AC3E}">
        <p14:creationId xmlns:p14="http://schemas.microsoft.com/office/powerpoint/2010/main" val="1117041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7653087" cy="3978275"/>
          </a:xfrm>
        </p:spPr>
        <p:txBody>
          <a:bodyPr/>
          <a:lstStyle/>
          <a:p>
            <a:r>
              <a:rPr lang="en-US" dirty="0"/>
              <a:t>When you want a simple solution for a small number of users, lightweight databases are a great place to start</a:t>
            </a:r>
          </a:p>
          <a:p>
            <a:r>
              <a:rPr lang="en-US" dirty="0"/>
              <a:t>They store data in a file that can be shared, but can break down when edited simultaneously</a:t>
            </a:r>
          </a:p>
          <a:p>
            <a:r>
              <a:rPr lang="en-US" dirty="0"/>
              <a:t>Common Lightweight Databases</a:t>
            </a:r>
          </a:p>
          <a:p>
            <a:pPr lvl="1"/>
            <a:r>
              <a:rPr lang="en-US" sz="1800" dirty="0"/>
              <a:t>Microsoft Access</a:t>
            </a:r>
          </a:p>
          <a:p>
            <a:pPr lvl="1"/>
            <a:r>
              <a:rPr lang="en-US" sz="1800" dirty="0"/>
              <a:t>SQLite</a:t>
            </a:r>
          </a:p>
          <a:p>
            <a:pPr lvl="1"/>
            <a:r>
              <a:rPr lang="en-US" sz="1800" dirty="0"/>
              <a:t>H2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Lightweight Databases</a:t>
            </a:r>
          </a:p>
        </p:txBody>
      </p:sp>
    </p:spTree>
    <p:extLst>
      <p:ext uri="{BB962C8B-B14F-4D97-AF65-F5344CB8AC3E}">
        <p14:creationId xmlns:p14="http://schemas.microsoft.com/office/powerpoint/2010/main" val="139921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001399" cy="5493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When you need to support tens, hundreds, or thousands of users and applications, you need a centralized database</a:t>
            </a:r>
          </a:p>
          <a:p>
            <a:pPr marL="0" indent="0">
              <a:buNone/>
            </a:pPr>
            <a:r>
              <a:rPr lang="en-US" dirty="0"/>
              <a:t>These databases are designed to handle a high volume of traffic efficiently	</a:t>
            </a:r>
          </a:p>
          <a:p>
            <a:pPr marL="0" indent="0">
              <a:buNone/>
            </a:pPr>
            <a:r>
              <a:rPr lang="en-US" dirty="0"/>
              <a:t>Some examples of centralized database platforms</a:t>
            </a:r>
          </a:p>
          <a:p>
            <a:pPr lvl="1"/>
            <a:r>
              <a:rPr lang="en-US" sz="2000" dirty="0"/>
              <a:t>Oracle</a:t>
            </a:r>
          </a:p>
          <a:p>
            <a:pPr lvl="1"/>
            <a:r>
              <a:rPr lang="en-US" sz="2000" dirty="0"/>
              <a:t>Microsoft SQL Server</a:t>
            </a:r>
          </a:p>
          <a:p>
            <a:pPr lvl="1"/>
            <a:r>
              <a:rPr lang="en-US" sz="2000" dirty="0"/>
              <a:t>MySQL</a:t>
            </a:r>
          </a:p>
          <a:p>
            <a:pPr lvl="1"/>
            <a:r>
              <a:rPr lang="en-US" sz="2000" dirty="0"/>
              <a:t>PostgreSQL</a:t>
            </a:r>
          </a:p>
          <a:p>
            <a:pPr lvl="1"/>
            <a:r>
              <a:rPr lang="en-US" sz="2000" dirty="0"/>
              <a:t>Teradata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Databases</a:t>
            </a:r>
          </a:p>
        </p:txBody>
      </p:sp>
    </p:spTree>
    <p:extLst>
      <p:ext uri="{BB962C8B-B14F-4D97-AF65-F5344CB8AC3E}">
        <p14:creationId xmlns:p14="http://schemas.microsoft.com/office/powerpoint/2010/main" val="30683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Centralized Database Setup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573867"/>
            <a:ext cx="2438400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1354667"/>
            <a:ext cx="2438400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3793067"/>
            <a:ext cx="2438400" cy="243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8466" y="4736931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Laptop with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2844" y="3526536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2844" y="5883071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2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526366" y="2429933"/>
            <a:ext cx="1231901" cy="821267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579623" y="4072467"/>
            <a:ext cx="1381844" cy="578366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90406" y="344226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9855" y="221096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9854" y="464293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4244" y="2580301"/>
            <a:ext cx="3055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Centralized databases use a </a:t>
            </a:r>
          </a:p>
          <a:p>
            <a:r>
              <a:rPr lang="en-US" dirty="0">
                <a:solidFill>
                  <a:srgbClr val="FF0000"/>
                </a:solidFill>
              </a:rPr>
              <a:t>Client/Server Setup</a:t>
            </a:r>
          </a:p>
        </p:txBody>
      </p:sp>
    </p:spTree>
    <p:extLst>
      <p:ext uri="{BB962C8B-B14F-4D97-AF65-F5344CB8AC3E}">
        <p14:creationId xmlns:p14="http://schemas.microsoft.com/office/powerpoint/2010/main" val="177852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2" grpId="0"/>
      <p:bldP spid="20" grpId="0"/>
      <p:bldP spid="20" grpId="1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Centralized Database Setup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1354667"/>
            <a:ext cx="2438400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3793067"/>
            <a:ext cx="2438400" cy="2438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2844" y="3526536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2844" y="5883071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2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526366" y="2429933"/>
            <a:ext cx="1231901" cy="821267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579623" y="4072467"/>
            <a:ext cx="1381844" cy="578366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99855" y="221096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9854" y="464293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4244" y="2580301"/>
            <a:ext cx="4038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production, you typically use a server computer to host the database rather than a laptop or desktop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77" y="2212433"/>
            <a:ext cx="2438400" cy="2438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0777" y="4774261"/>
            <a:ext cx="231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Server Computer with MySQL</a:t>
            </a:r>
          </a:p>
        </p:txBody>
      </p:sp>
    </p:spTree>
    <p:extLst>
      <p:ext uri="{BB962C8B-B14F-4D97-AF65-F5344CB8AC3E}">
        <p14:creationId xmlns:p14="http://schemas.microsoft.com/office/powerpoint/2010/main" val="923810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Centralized Database Setup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1354667"/>
            <a:ext cx="2438400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466" y="3793067"/>
            <a:ext cx="2438400" cy="2438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2844" y="3526536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2844" y="5883071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SQL User 2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526366" y="2429933"/>
            <a:ext cx="1231901" cy="821267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579623" y="4072467"/>
            <a:ext cx="1381844" cy="578366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99855" y="2210969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9854" y="464293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4244" y="2580301"/>
            <a:ext cx="4038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popular architecture nowadays is to have cloud services from Amazon, Microsoft and Alphabet host your database for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172" y="4642298"/>
            <a:ext cx="231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Cloud Server with MySQL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0C071-22F0-489F-A443-1E12EAF2B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72" y="2284431"/>
            <a:ext cx="2438400" cy="2438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5F18BE-397A-42E4-AFDF-30C01F9113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007" y="3184837"/>
            <a:ext cx="1052729" cy="10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68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8881594" cy="39782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Upon entering a workplace, there is a good chance you will need access to an existing centralized database</a:t>
            </a:r>
          </a:p>
          <a:p>
            <a:pPr marL="0" indent="0">
              <a:buNone/>
            </a:pPr>
            <a:r>
              <a:rPr lang="en-US" dirty="0"/>
              <a:t>We will not be using centralized databases in this course, but we will be using SQLite</a:t>
            </a:r>
          </a:p>
          <a:p>
            <a:pPr marL="0" indent="0">
              <a:buNone/>
            </a:pPr>
            <a:r>
              <a:rPr lang="en-US" dirty="0"/>
              <a:t>The experience between lightweight and centralized databases should largely be the same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Use			</a:t>
            </a:r>
          </a:p>
        </p:txBody>
      </p:sp>
    </p:spTree>
    <p:extLst>
      <p:ext uri="{BB962C8B-B14F-4D97-AF65-F5344CB8AC3E}">
        <p14:creationId xmlns:p14="http://schemas.microsoft.com/office/powerpoint/2010/main" val="3755056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8748692" cy="488749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Identify the following as being a </a:t>
            </a:r>
            <a:r>
              <a:rPr lang="en-US" b="1" i="1" dirty="0"/>
              <a:t>lightweight</a:t>
            </a:r>
            <a:r>
              <a:rPr lang="en-US" b="1" dirty="0"/>
              <a:t> or </a:t>
            </a:r>
            <a:r>
              <a:rPr lang="en-US" b="1" i="1" dirty="0"/>
              <a:t>centralized</a:t>
            </a:r>
            <a:r>
              <a:rPr lang="en-US" b="1" dirty="0"/>
              <a:t> database:</a:t>
            </a:r>
          </a:p>
          <a:p>
            <a:pPr marL="0" indent="0">
              <a:buNone/>
            </a:pPr>
            <a:r>
              <a:rPr lang="en-US" dirty="0"/>
              <a:t>1.   Facebook’s MySQL database holding all user data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CENTRALIZED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2.   A SQLite database holding an iPhone user’s data </a:t>
            </a:r>
            <a:r>
              <a:rPr lang="en-US" i="1" dirty="0"/>
              <a:t>locally</a:t>
            </a:r>
            <a:r>
              <a:rPr lang="en-US" dirty="0"/>
              <a:t> on the hard drive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LIGHTWEIGHT</a:t>
            </a:r>
          </a:p>
          <a:p>
            <a:pPr marL="0" indent="0">
              <a:buNone/>
            </a:pPr>
            <a:r>
              <a:rPr lang="en-US" dirty="0"/>
              <a:t>3.   An Oracle database with shopping data for a storefront website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FF0000"/>
                </a:solidFill>
              </a:rPr>
              <a:t>CENTRALIZED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1.2</a:t>
            </a:r>
          </a:p>
        </p:txBody>
      </p:sp>
    </p:spTree>
    <p:extLst>
      <p:ext uri="{BB962C8B-B14F-4D97-AF65-F5344CB8AC3E}">
        <p14:creationId xmlns:p14="http://schemas.microsoft.com/office/powerpoint/2010/main" val="304579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1164324"/>
            <a:ext cx="105156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Section VII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855620" y="2933108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JOIN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7488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r>
              <a:rPr lang="en-US" dirty="0"/>
              <a:t>Remember when we were talking about tables having relationships with each other?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table can supply data to another table, like </a:t>
            </a:r>
            <a:r>
              <a:rPr lang="en-US" dirty="0">
                <a:solidFill>
                  <a:srgbClr val="923922"/>
                </a:solidFill>
              </a:rPr>
              <a:t>CUSTOMER</a:t>
            </a:r>
            <a:r>
              <a:rPr lang="en-US" dirty="0"/>
              <a:t> information for a </a:t>
            </a:r>
            <a:r>
              <a:rPr lang="en-US" dirty="0">
                <a:solidFill>
                  <a:srgbClr val="923922"/>
                </a:solidFill>
              </a:rPr>
              <a:t>CUSTOMER_ORDER</a:t>
            </a:r>
            <a:endParaRPr lang="en-US" sz="1800" dirty="0">
              <a:solidFill>
                <a:srgbClr val="923922"/>
              </a:solidFill>
            </a:endParaRP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Table Relationships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42" y="2129575"/>
            <a:ext cx="5835816" cy="306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1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r>
              <a:rPr lang="en-US" sz="1800" dirty="0"/>
              <a:t>Because the </a:t>
            </a:r>
            <a:r>
              <a:rPr lang="en-US" sz="1800" dirty="0">
                <a:solidFill>
                  <a:srgbClr val="923922"/>
                </a:solidFill>
              </a:rPr>
              <a:t>CUSTOMER</a:t>
            </a:r>
            <a:r>
              <a:rPr lang="en-US" sz="1800" dirty="0"/>
              <a:t> table supplies data to </a:t>
            </a:r>
            <a:r>
              <a:rPr lang="en-US" sz="1800" dirty="0">
                <a:solidFill>
                  <a:srgbClr val="923922"/>
                </a:solidFill>
              </a:rPr>
              <a:t>CUSTOMER_ORDER</a:t>
            </a:r>
            <a:r>
              <a:rPr lang="en-US" sz="1800" dirty="0"/>
              <a:t>, it is the </a:t>
            </a:r>
            <a:r>
              <a:rPr lang="en-US" sz="1800" b="1" dirty="0"/>
              <a:t>parent</a:t>
            </a:r>
            <a:r>
              <a:rPr lang="en-US" sz="1800" dirty="0"/>
              <a:t> table to </a:t>
            </a:r>
            <a:r>
              <a:rPr lang="en-US" sz="1800" dirty="0">
                <a:solidFill>
                  <a:srgbClr val="923922"/>
                </a:solidFill>
              </a:rPr>
              <a:t>CUSTOMER_ORDER</a:t>
            </a:r>
          </a:p>
          <a:p>
            <a:r>
              <a:rPr lang="en-US" dirty="0"/>
              <a:t>Because the </a:t>
            </a:r>
            <a:r>
              <a:rPr lang="en-US" dirty="0">
                <a:solidFill>
                  <a:srgbClr val="923922"/>
                </a:solidFill>
              </a:rPr>
              <a:t>CUSTOMER_ORDER</a:t>
            </a:r>
            <a:r>
              <a:rPr lang="en-US" dirty="0"/>
              <a:t> table receives data from </a:t>
            </a:r>
            <a:r>
              <a:rPr lang="en-US" dirty="0">
                <a:solidFill>
                  <a:srgbClr val="923922"/>
                </a:solidFill>
              </a:rPr>
              <a:t>CUSTOMER</a:t>
            </a:r>
            <a:r>
              <a:rPr lang="en-US" dirty="0"/>
              <a:t>, it is the </a:t>
            </a:r>
            <a:r>
              <a:rPr lang="en-US" b="1" dirty="0"/>
              <a:t>child</a:t>
            </a:r>
            <a:r>
              <a:rPr lang="en-US" dirty="0"/>
              <a:t> table to </a:t>
            </a:r>
            <a:r>
              <a:rPr lang="en-US" dirty="0">
                <a:solidFill>
                  <a:srgbClr val="923922"/>
                </a:solidFill>
              </a:rPr>
              <a:t>CUSTOMER</a:t>
            </a:r>
            <a:endParaRPr lang="en-US" sz="1800" dirty="0">
              <a:solidFill>
                <a:srgbClr val="923922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Parent/Child Tables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21" y="3204682"/>
            <a:ext cx="78867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1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r>
              <a:rPr lang="en-US" dirty="0"/>
              <a:t>Typically, a parent table will have a </a:t>
            </a:r>
            <a:r>
              <a:rPr lang="en-US" b="1" dirty="0"/>
              <a:t>primary key</a:t>
            </a:r>
            <a:r>
              <a:rPr lang="en-US" dirty="0"/>
              <a:t> and the child table will have a </a:t>
            </a:r>
            <a:r>
              <a:rPr lang="en-US" b="1" dirty="0"/>
              <a:t>foreign key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primary key is unique and can map to multiple foreign keys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Primary/Foreign Keys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57" y="1861287"/>
            <a:ext cx="8320875" cy="40321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73417" y="2927758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D462F"/>
                </a:solidFill>
              </a:rPr>
              <a:t>Primary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869" y="4858624"/>
            <a:ext cx="1116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D462F"/>
                </a:solidFill>
              </a:rPr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24847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42418" y="1404858"/>
            <a:ext cx="9041148" cy="464803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</a:t>
            </a:r>
          </a:p>
        </p:txBody>
      </p:sp>
    </p:spTree>
    <p:extLst>
      <p:ext uri="{BB962C8B-B14F-4D97-AF65-F5344CB8AC3E}">
        <p14:creationId xmlns:p14="http://schemas.microsoft.com/office/powerpoint/2010/main" val="1250764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962" y="1343229"/>
            <a:ext cx="8759330" cy="489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63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26" y="1920335"/>
            <a:ext cx="7219209" cy="27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489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Joining Multiple Tables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249" y="1569124"/>
            <a:ext cx="4915162" cy="4201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730" y="1468073"/>
            <a:ext cx="51676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not uncommon to have a table be a parent to one table, but a child to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given table can also be a child to more than one table, so what does this look like?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bring in a third table </a:t>
            </a:r>
            <a:r>
              <a:rPr lang="en-US" dirty="0">
                <a:solidFill>
                  <a:srgbClr val="002060"/>
                </a:solidFill>
              </a:rPr>
              <a:t>PRODUCT</a:t>
            </a:r>
            <a:r>
              <a:rPr lang="en-US" dirty="0"/>
              <a:t> to supply product information to </a:t>
            </a:r>
            <a:r>
              <a:rPr lang="en-US" dirty="0">
                <a:solidFill>
                  <a:srgbClr val="002060"/>
                </a:solidFill>
              </a:rPr>
              <a:t>CUSTOMER_ORDER</a:t>
            </a:r>
          </a:p>
        </p:txBody>
      </p:sp>
    </p:spTree>
    <p:extLst>
      <p:ext uri="{BB962C8B-B14F-4D97-AF65-F5344CB8AC3E}">
        <p14:creationId xmlns:p14="http://schemas.microsoft.com/office/powerpoint/2010/main" val="196567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838200" y="1164324"/>
            <a:ext cx="105156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Section VIII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855620" y="2933108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1"/>
                </a:solidFill>
                <a:latin typeface="+mj-lt"/>
              </a:rPr>
              <a:t>Database Design</a:t>
            </a:r>
            <a:endParaRPr lang="en-US" sz="2400" i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61254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21208" y="1431014"/>
            <a:ext cx="9013205" cy="3978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Design Questions</a:t>
            </a:r>
          </a:p>
          <a:p>
            <a:r>
              <a:rPr lang="en-US" i="1" dirty="0"/>
              <a:t>What are the business requirements?</a:t>
            </a:r>
          </a:p>
          <a:p>
            <a:r>
              <a:rPr lang="en-US" i="1" dirty="0"/>
              <a:t>What tables will I need to fulfill those requirements?</a:t>
            </a:r>
          </a:p>
          <a:p>
            <a:r>
              <a:rPr lang="en-US" i="1" dirty="0"/>
              <a:t>What columns will each table contain?</a:t>
            </a:r>
          </a:p>
          <a:p>
            <a:r>
              <a:rPr lang="en-US" i="1" dirty="0"/>
              <a:t>How will the tables be normalized?</a:t>
            </a:r>
          </a:p>
          <a:p>
            <a:r>
              <a:rPr lang="en-US" i="1" dirty="0"/>
              <a:t>What will their parent/child relationships be?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Database </a:t>
            </a:r>
          </a:p>
        </p:txBody>
      </p:sp>
    </p:spTree>
    <p:extLst>
      <p:ext uri="{BB962C8B-B14F-4D97-AF65-F5344CB8AC3E}">
        <p14:creationId xmlns:p14="http://schemas.microsoft.com/office/powerpoint/2010/main" val="2198113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21208" y="1431014"/>
            <a:ext cx="9013205" cy="39782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 Questions</a:t>
            </a:r>
          </a:p>
          <a:p>
            <a:r>
              <a:rPr lang="en-US" i="1" dirty="0"/>
              <a:t>How much data will be populated into these tables?</a:t>
            </a:r>
          </a:p>
          <a:p>
            <a:r>
              <a:rPr lang="en-US" i="1" dirty="0"/>
              <a:t>Who/what will populate data into these tables?</a:t>
            </a:r>
          </a:p>
          <a:p>
            <a:r>
              <a:rPr lang="en-US" i="1" dirty="0"/>
              <a:t>Where will the data come from?</a:t>
            </a:r>
          </a:p>
          <a:p>
            <a:r>
              <a:rPr lang="en-US" i="1" dirty="0"/>
              <a:t>Do we need processes to automatically populate these tables?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Database </a:t>
            </a:r>
          </a:p>
        </p:txBody>
      </p:sp>
    </p:spTree>
    <p:extLst>
      <p:ext uri="{BB962C8B-B14F-4D97-AF65-F5344CB8AC3E}">
        <p14:creationId xmlns:p14="http://schemas.microsoft.com/office/powerpoint/2010/main" val="110457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21208" y="1431014"/>
            <a:ext cx="9013205" cy="5099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Security Questions</a:t>
            </a:r>
          </a:p>
          <a:p>
            <a:r>
              <a:rPr lang="en-US" i="1" dirty="0"/>
              <a:t>Who should have access to this database?</a:t>
            </a:r>
          </a:p>
          <a:p>
            <a:r>
              <a:rPr lang="en-US" i="1" dirty="0"/>
              <a:t>Who should have access to which tables? Read-only access? Write access?</a:t>
            </a:r>
          </a:p>
          <a:p>
            <a:r>
              <a:rPr lang="en-US" i="1" dirty="0"/>
              <a:t>Is this database critical to business operations?</a:t>
            </a:r>
          </a:p>
          <a:p>
            <a:r>
              <a:rPr lang="en-US" i="1" dirty="0"/>
              <a:t>What backup plans do we have in the event of disaster/failure?</a:t>
            </a:r>
          </a:p>
          <a:p>
            <a:r>
              <a:rPr lang="en-US" i="1" dirty="0"/>
              <a:t>Should changes to tables be logged?</a:t>
            </a:r>
          </a:p>
          <a:p>
            <a:r>
              <a:rPr lang="en-US" i="1" dirty="0"/>
              <a:t>If the database is used for websites or web applications, is it secure?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a Database </a:t>
            </a:r>
          </a:p>
        </p:txBody>
      </p:sp>
    </p:spTree>
    <p:extLst>
      <p:ext uri="{BB962C8B-B14F-4D97-AF65-F5344CB8AC3E}">
        <p14:creationId xmlns:p14="http://schemas.microsoft.com/office/powerpoint/2010/main" val="101767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8644333" cy="3978275"/>
          </a:xfrm>
        </p:spPr>
        <p:txBody>
          <a:bodyPr/>
          <a:lstStyle/>
          <a:p>
            <a:pPr lvl="0">
              <a:tabLst>
                <a:tab pos="0" algn="l"/>
              </a:tabLst>
            </a:pPr>
            <a:r>
              <a:rPr lang="en-US" dirty="0">
                <a:solidFill>
                  <a:srgbClr val="404040"/>
                </a:solidFill>
                <a:latin typeface="Segoe UI" pitchFamily="34"/>
              </a:rPr>
              <a:t>To prevent SQL injection, </a:t>
            </a:r>
            <a:r>
              <a:rPr lang="en-US" i="1" dirty="0">
                <a:solidFill>
                  <a:srgbClr val="404040"/>
                </a:solidFill>
                <a:latin typeface="Segoe UI" pitchFamily="34"/>
              </a:rPr>
              <a:t>never</a:t>
            </a:r>
            <a:r>
              <a:rPr lang="en-US" dirty="0">
                <a:solidFill>
                  <a:srgbClr val="404040"/>
                </a:solidFill>
                <a:latin typeface="Segoe UI" pitchFamily="34"/>
              </a:rPr>
              <a:t> concatenate a SQL string with parameters</a:t>
            </a:r>
          </a:p>
          <a:p>
            <a:pPr lvl="0">
              <a:tabLst>
                <a:tab pos="0" algn="l"/>
              </a:tabLst>
            </a:pPr>
            <a:r>
              <a:rPr lang="en-US" dirty="0">
                <a:solidFill>
                  <a:srgbClr val="404040"/>
                </a:solidFill>
                <a:latin typeface="Segoe UI" pitchFamily="34"/>
              </a:rPr>
              <a:t>Instead, use the right tools and libraries to safely inject parameters for you</a:t>
            </a:r>
          </a:p>
          <a:p>
            <a:pPr lvl="0">
              <a:tabLst>
                <a:tab pos="0" algn="l"/>
              </a:tabLst>
            </a:pPr>
            <a:r>
              <a:rPr lang="en-US" i="1" dirty="0">
                <a:solidFill>
                  <a:srgbClr val="404040"/>
                </a:solidFill>
                <a:latin typeface="Segoe UI" pitchFamily="34"/>
              </a:rPr>
              <a:t>For Python, use </a:t>
            </a:r>
            <a:r>
              <a:rPr lang="en-US" i="1" dirty="0" err="1">
                <a:solidFill>
                  <a:srgbClr val="404040"/>
                </a:solidFill>
                <a:latin typeface="Segoe UI" pitchFamily="34"/>
              </a:rPr>
              <a:t>SQLAlchemy</a:t>
            </a:r>
            <a:endParaRPr lang="en-US" i="1" dirty="0">
              <a:solidFill>
                <a:srgbClr val="404040"/>
              </a:solidFill>
              <a:latin typeface="Segoe UI" pitchFamily="34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SQL Injection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411198" y="2967418"/>
            <a:ext cx="6905160" cy="2229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185944" y="2391417"/>
            <a:ext cx="2138400" cy="28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5335990" y="5224623"/>
            <a:ext cx="298036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More info at: </a:t>
            </a:r>
            <a:endParaRPr lang="en-US" dirty="0"/>
          </a:p>
          <a:p>
            <a:r>
              <a:rPr lang="en-US" dirty="0">
                <a:hlinkClick r:id="rId4"/>
              </a:rPr>
              <a:t>http://www.sqlalchemy.org/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8879225" cy="3978275"/>
          </a:xfrm>
        </p:spPr>
        <p:txBody>
          <a:bodyPr/>
          <a:lstStyle/>
          <a:p>
            <a:pPr marL="0" indent="0">
              <a:buNone/>
            </a:pPr>
            <a:r>
              <a:rPr lang="en-US" i="1" dirty="0">
                <a:solidFill>
                  <a:srgbClr val="404040"/>
                </a:solidFill>
                <a:latin typeface="Segoe UI" pitchFamily="34"/>
              </a:rPr>
              <a:t>For Java, Scala, Kotlin, and other JVM languages use JDBC’s </a:t>
            </a:r>
            <a:r>
              <a:rPr lang="en-US" i="1" dirty="0" err="1">
                <a:solidFill>
                  <a:srgbClr val="404040"/>
                </a:solidFill>
                <a:latin typeface="Segoe UI" pitchFamily="34"/>
              </a:rPr>
              <a:t>PreparedStatement</a:t>
            </a:r>
            <a:endParaRPr lang="en-US" i="1" dirty="0">
              <a:solidFill>
                <a:srgbClr val="404040"/>
              </a:solidFill>
              <a:latin typeface="Segoe UI" pitchFamily="34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SQL Injection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1612" y="2079762"/>
            <a:ext cx="7955280" cy="287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41612" y="5004553"/>
            <a:ext cx="8152786" cy="88725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1" u="none" strike="noStrike" kern="1200" cap="none" dirty="0">
                <a:ln>
                  <a:noFill/>
                </a:ln>
                <a:latin typeface="Source Sans Pro" pitchFamily="34"/>
                <a:ea typeface="源ノ角ゴシック Normal" pitchFamily="2"/>
                <a:cs typeface="FreeSans" pitchFamily="2"/>
              </a:rPr>
              <a:t>More info at: </a:t>
            </a:r>
          </a:p>
          <a:p>
            <a:pPr marL="0" marR="0" lvl="0" indent="0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1" u="none" strike="noStrike" kern="1200" cap="none" dirty="0">
                <a:ln>
                  <a:noFill/>
                </a:ln>
                <a:latin typeface="Source Sans Pro" pitchFamily="34"/>
                <a:ea typeface="源ノ角ゴシック Normal" pitchFamily="2"/>
                <a:cs typeface="FreeSans" pitchFamily="2"/>
                <a:hlinkClick r:id="rId3"/>
              </a:rPr>
              <a:t>http://tutorials.jenkov.com/jdbc/index.html</a:t>
            </a:r>
            <a:endParaRPr lang="en-US" sz="1800" b="0" i="1" u="none" strike="noStrike" kern="1200" cap="none" dirty="0">
              <a:ln>
                <a:noFill/>
              </a:ln>
              <a:latin typeface="Source Sans Pro" pitchFamily="34"/>
              <a:ea typeface="源ノ角ゴシック Normal" pitchFamily="2"/>
              <a:cs typeface="FreeSans" pitchFamily="2"/>
            </a:endParaRPr>
          </a:p>
          <a:p>
            <a:pPr lvl="0"/>
            <a:r>
              <a:rPr lang="en-US" i="1" dirty="0">
                <a:latin typeface="Source Sans Pro" pitchFamily="34"/>
                <a:ea typeface="源ノ角ゴシック Normal" pitchFamily="2"/>
                <a:cs typeface="FreeSans" pitchFamily="2"/>
                <a:hlinkClick r:id="rId4"/>
              </a:rPr>
              <a:t>http://www.marcobehler.com/make-it-so-java-db-connections-and-transactions</a:t>
            </a:r>
            <a:endParaRPr lang="en-US" i="1" dirty="0">
              <a:latin typeface="Source Sans Pro" pitchFamily="34"/>
              <a:ea typeface="源ノ角ゴシック Normal" pitchFamily="2"/>
              <a:cs typeface="Free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687958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488060-F89A-4683-98CE-EC4F0F03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Humor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82F8B-A096-4A4D-91D5-C9E4EE414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" y="1474470"/>
            <a:ext cx="5048250" cy="181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F2FB91-B8EF-463A-B9AA-1228E54BDC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1441134"/>
            <a:ext cx="5244551" cy="2970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24049F-EDB5-4C7A-9352-53FEC94894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8" y="3993638"/>
            <a:ext cx="4495800" cy="2489549"/>
          </a:xfrm>
          <a:prstGeom prst="rect">
            <a:avLst/>
          </a:prstGeom>
        </p:spPr>
      </p:pic>
      <p:pic>
        <p:nvPicPr>
          <p:cNvPr id="11" name="Picture 10" descr="sdfsda">
            <a:extLst>
              <a:ext uri="{FF2B5EF4-FFF2-40B4-BE49-F238E27FC236}">
                <a16:creationId xmlns:a16="http://schemas.microsoft.com/office/drawing/2014/main" id="{8628AE07-3A7F-4118-81C4-3F88B9319C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708" y="4654026"/>
            <a:ext cx="5942543" cy="18291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E8F8C9-0599-44D0-AEA7-D4DBFDCD7855}"/>
              </a:ext>
            </a:extLst>
          </p:cNvPr>
          <p:cNvSpPr txBox="1"/>
          <p:nvPr/>
        </p:nvSpPr>
        <p:spPr>
          <a:xfrm>
            <a:off x="5283708" y="6483187"/>
            <a:ext cx="5056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https://xkcd.com/327/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6D363-65C6-4B34-B94D-440B2A400033}"/>
              </a:ext>
            </a:extLst>
          </p:cNvPr>
          <p:cNvSpPr txBox="1"/>
          <p:nvPr/>
        </p:nvSpPr>
        <p:spPr>
          <a:xfrm>
            <a:off x="521207" y="6483187"/>
            <a:ext cx="5056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Google Images</a:t>
            </a:r>
          </a:p>
        </p:txBody>
      </p:sp>
    </p:spTree>
    <p:extLst>
      <p:ext uri="{BB962C8B-B14F-4D97-AF65-F5344CB8AC3E}">
        <p14:creationId xmlns:p14="http://schemas.microsoft.com/office/powerpoint/2010/main" val="1926655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12CC38-6DE6-430F-8950-FD747A712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137566"/>
          </a:xfrm>
        </p:spPr>
        <p:txBody>
          <a:bodyPr>
            <a:normAutofit/>
          </a:bodyPr>
          <a:lstStyle/>
          <a:p>
            <a:r>
              <a:rPr lang="en-US" dirty="0"/>
              <a:t>How to Hack Your Alexa Using a Voice Command SQL Injection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hlinkClick r:id="rId2"/>
              </a:rPr>
              <a:t>https://hackernoon.com/voice-command-sql-injection-hack-uncovered-for-alexa-9914x3zwp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How a NULL License Plate Landed One Hacker In Ticket Hell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hlinkClick r:id="rId3"/>
              </a:rPr>
              <a:t>https://www.wired.com/story/null-license-plate-landed-one-hacker-ticket-hell/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couple cannot do the simplest things online because their last name is ‘Null’</a:t>
            </a:r>
          </a:p>
          <a:p>
            <a:pPr marL="0" lvl="1" indent="0">
              <a:buNone/>
            </a:pPr>
            <a:r>
              <a:rPr lang="en-US" sz="1800" dirty="0"/>
              <a:t>    </a:t>
            </a:r>
            <a:r>
              <a:rPr lang="en-US" sz="1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Https://thenextweb.com/insider/2016/03/27/last-name-null-is-tough-for-computers/</a:t>
            </a:r>
            <a:endParaRPr lang="en-US" sz="1800" dirty="0"/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endParaRPr lang="en-US" sz="1800" dirty="0"/>
          </a:p>
          <a:p>
            <a:pPr marL="0" lvl="1" indent="0">
              <a:buNone/>
            </a:pPr>
            <a:endParaRPr lang="en-US" sz="1800" dirty="0"/>
          </a:p>
          <a:p>
            <a:pPr marL="457177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88784-0E2E-4529-8C4A-3CD04E29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in the News</a:t>
            </a:r>
          </a:p>
        </p:txBody>
      </p:sp>
    </p:spTree>
    <p:extLst>
      <p:ext uri="{BB962C8B-B14F-4D97-AF65-F5344CB8AC3E}">
        <p14:creationId xmlns:p14="http://schemas.microsoft.com/office/powerpoint/2010/main" val="2654527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21208" y="1431014"/>
            <a:ext cx="9013205" cy="4832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design a database for a real-world scenario!</a:t>
            </a:r>
          </a:p>
          <a:p>
            <a:pPr marL="0" indent="0">
              <a:buNone/>
            </a:pPr>
            <a:r>
              <a:rPr lang="en-US" i="1" dirty="0"/>
              <a:t>You are a staff member for the </a:t>
            </a:r>
            <a:r>
              <a:rPr lang="en-US" i="1" dirty="0" err="1"/>
              <a:t>SurgeTech</a:t>
            </a:r>
            <a:r>
              <a:rPr lang="en-US" i="1" dirty="0"/>
              <a:t> conference, a gathering of tech startup companies seeking publicity and investors. The organizer has tasked you with creating a database to manage the </a:t>
            </a:r>
            <a:r>
              <a:rPr lang="en-US" i="1" dirty="0">
                <a:solidFill>
                  <a:srgbClr val="FF0000"/>
                </a:solidFill>
              </a:rPr>
              <a:t>attendees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companies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presentations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rooms</a:t>
            </a:r>
            <a:r>
              <a:rPr lang="en-US" i="1" dirty="0"/>
              <a:t>, and </a:t>
            </a:r>
            <a:r>
              <a:rPr lang="en-US" i="1" dirty="0">
                <a:solidFill>
                  <a:srgbClr val="FF0000"/>
                </a:solidFill>
              </a:rPr>
              <a:t>presentation</a:t>
            </a:r>
            <a:r>
              <a:rPr lang="en-US" i="1" dirty="0"/>
              <a:t> </a:t>
            </a:r>
            <a:r>
              <a:rPr lang="en-US" i="1" dirty="0">
                <a:solidFill>
                  <a:srgbClr val="FF0000"/>
                </a:solidFill>
              </a:rPr>
              <a:t>attendance</a:t>
            </a:r>
            <a:r>
              <a:rPr lang="en-US" i="1" dirty="0"/>
              <a:t>. How should this database be designed?</a:t>
            </a:r>
          </a:p>
          <a:p>
            <a:pPr marL="0" indent="0">
              <a:buNone/>
            </a:pPr>
            <a:r>
              <a:rPr lang="en-US" dirty="0"/>
              <a:t>There are five entities here that can be turned into tables</a:t>
            </a:r>
          </a:p>
          <a:p>
            <a:r>
              <a:rPr lang="en-US" dirty="0">
                <a:solidFill>
                  <a:srgbClr val="FF0000"/>
                </a:solidFill>
              </a:rPr>
              <a:t>ATTENDEE</a:t>
            </a:r>
          </a:p>
          <a:p>
            <a:r>
              <a:rPr lang="en-US" dirty="0">
                <a:solidFill>
                  <a:srgbClr val="FF0000"/>
                </a:solidFill>
              </a:rPr>
              <a:t>COMPANY</a:t>
            </a:r>
          </a:p>
          <a:p>
            <a:r>
              <a:rPr lang="en-US" dirty="0">
                <a:solidFill>
                  <a:srgbClr val="FF0000"/>
                </a:solidFill>
              </a:rPr>
              <a:t>PRESENTATION</a:t>
            </a:r>
          </a:p>
          <a:p>
            <a:r>
              <a:rPr lang="en-US" dirty="0">
                <a:solidFill>
                  <a:srgbClr val="FF0000"/>
                </a:solidFill>
              </a:rPr>
              <a:t>ROOM</a:t>
            </a:r>
          </a:p>
          <a:p>
            <a:r>
              <a:rPr lang="en-US" dirty="0">
                <a:solidFill>
                  <a:srgbClr val="FF0000"/>
                </a:solidFill>
              </a:rPr>
              <a:t>PRESENTATION_ATTENDANCE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SurgeTech</a:t>
            </a:r>
            <a:r>
              <a:rPr lang="en-US" dirty="0"/>
              <a:t> Conference</a:t>
            </a:r>
          </a:p>
        </p:txBody>
      </p:sp>
    </p:spTree>
    <p:extLst>
      <p:ext uri="{BB962C8B-B14F-4D97-AF65-F5344CB8AC3E}">
        <p14:creationId xmlns:p14="http://schemas.microsoft.com/office/powerpoint/2010/main" val="50087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745388" cy="4703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attendees are guests (including some VIP’s) who have registered for the conference</a:t>
            </a:r>
          </a:p>
          <a:p>
            <a:pPr marL="0" indent="0">
              <a:buNone/>
            </a:pPr>
            <a:r>
              <a:rPr lang="en-US" dirty="0"/>
              <a:t>Each attendee holds the following information:</a:t>
            </a:r>
          </a:p>
          <a:p>
            <a:pPr lvl="1"/>
            <a:r>
              <a:rPr lang="en-US" sz="1800" dirty="0"/>
              <a:t>ID</a:t>
            </a:r>
          </a:p>
          <a:p>
            <a:pPr lvl="1"/>
            <a:r>
              <a:rPr lang="en-US" sz="1800" dirty="0"/>
              <a:t>Name</a:t>
            </a:r>
          </a:p>
          <a:p>
            <a:pPr lvl="1"/>
            <a:r>
              <a:rPr lang="en-US" sz="1800" dirty="0"/>
              <a:t>Phone Number</a:t>
            </a:r>
          </a:p>
          <a:p>
            <a:pPr lvl="1"/>
            <a:r>
              <a:rPr lang="en-US" sz="1800" dirty="0"/>
              <a:t>Email</a:t>
            </a:r>
          </a:p>
          <a:p>
            <a:pPr lvl="1"/>
            <a:r>
              <a:rPr lang="en-US" sz="1800" dirty="0"/>
              <a:t>VIP status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the right is our design for the </a:t>
            </a:r>
            <a:r>
              <a:rPr lang="en-US" dirty="0">
                <a:solidFill>
                  <a:srgbClr val="FF0000"/>
                </a:solidFill>
              </a:rPr>
              <a:t>ATTENDEE</a:t>
            </a:r>
            <a:r>
              <a:rPr lang="en-US" dirty="0"/>
              <a:t>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ATTENDEE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777" y="1932664"/>
            <a:ext cx="24479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4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745388" cy="4703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startup companies need to be tracked as well</a:t>
            </a:r>
          </a:p>
          <a:p>
            <a:pPr marL="0" indent="0">
              <a:buNone/>
            </a:pPr>
            <a:r>
              <a:rPr lang="en-US" dirty="0"/>
              <a:t>Each company holds the following information:</a:t>
            </a:r>
          </a:p>
          <a:p>
            <a:pPr lvl="1"/>
            <a:r>
              <a:rPr lang="en-US" sz="1800" dirty="0"/>
              <a:t>Company ID</a:t>
            </a:r>
          </a:p>
          <a:p>
            <a:pPr lvl="1"/>
            <a:r>
              <a:rPr lang="en-US" sz="1800" dirty="0"/>
              <a:t>Name</a:t>
            </a:r>
          </a:p>
          <a:p>
            <a:pPr lvl="1"/>
            <a:r>
              <a:rPr lang="en-US" sz="1800" dirty="0"/>
              <a:t>Description</a:t>
            </a:r>
          </a:p>
          <a:p>
            <a:pPr lvl="1"/>
            <a:r>
              <a:rPr lang="en-US" sz="1800" dirty="0"/>
              <a:t>Primary contact attendee 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the right is our design for the </a:t>
            </a:r>
            <a:r>
              <a:rPr lang="en-US" dirty="0">
                <a:solidFill>
                  <a:srgbClr val="FF0000"/>
                </a:solidFill>
              </a:rPr>
              <a:t>COMPANY</a:t>
            </a:r>
            <a:r>
              <a:rPr lang="en-US" dirty="0"/>
              <a:t>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987" y="1794510"/>
            <a:ext cx="50768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745388" cy="4703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Some companies will schedule a presentation for a specific slot of time</a:t>
            </a:r>
          </a:p>
          <a:p>
            <a:pPr marL="0" indent="0">
              <a:buNone/>
            </a:pPr>
            <a:r>
              <a:rPr lang="en-US" dirty="0"/>
              <a:t>Each presentation is defined by:</a:t>
            </a:r>
          </a:p>
          <a:p>
            <a:pPr lvl="1"/>
            <a:r>
              <a:rPr lang="en-US" sz="1800" dirty="0"/>
              <a:t>Presentation ID</a:t>
            </a:r>
          </a:p>
          <a:p>
            <a:pPr lvl="1"/>
            <a:r>
              <a:rPr lang="en-US" sz="1800" dirty="0"/>
              <a:t>Booked company ID</a:t>
            </a:r>
          </a:p>
          <a:p>
            <a:pPr lvl="1"/>
            <a:r>
              <a:rPr lang="en-US" sz="1800" dirty="0"/>
              <a:t>Booked room ID</a:t>
            </a:r>
          </a:p>
          <a:p>
            <a:pPr lvl="1"/>
            <a:r>
              <a:rPr lang="en-US" sz="1800" dirty="0"/>
              <a:t>Start time</a:t>
            </a:r>
          </a:p>
          <a:p>
            <a:pPr lvl="1"/>
            <a:r>
              <a:rPr lang="en-US" sz="1800" dirty="0"/>
              <a:t>End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the right is our design for the </a:t>
            </a:r>
            <a:r>
              <a:rPr lang="en-US" dirty="0">
                <a:solidFill>
                  <a:srgbClr val="FF0000"/>
                </a:solidFill>
              </a:rPr>
              <a:t>PRESENTATION</a:t>
            </a:r>
            <a:r>
              <a:rPr lang="en-US" dirty="0"/>
              <a:t>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522" y="2046922"/>
            <a:ext cx="37242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4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745388" cy="4703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Rooms are available for presentations</a:t>
            </a:r>
          </a:p>
          <a:p>
            <a:pPr marL="0" indent="0">
              <a:buNone/>
            </a:pPr>
            <a:r>
              <a:rPr lang="en-US" dirty="0"/>
              <a:t>Each room is defined with these attributes:</a:t>
            </a:r>
          </a:p>
          <a:p>
            <a:pPr lvl="1"/>
            <a:r>
              <a:rPr lang="en-US" sz="1800" dirty="0"/>
              <a:t>Room ID</a:t>
            </a:r>
          </a:p>
          <a:p>
            <a:pPr lvl="1"/>
            <a:r>
              <a:rPr lang="en-US" sz="1800" dirty="0"/>
              <a:t>Floor number</a:t>
            </a:r>
          </a:p>
          <a:p>
            <a:pPr lvl="1"/>
            <a:r>
              <a:rPr lang="en-US" sz="1800" dirty="0"/>
              <a:t>Seat capacity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the right is our design for the </a:t>
            </a:r>
            <a:r>
              <a:rPr lang="en-US" dirty="0">
                <a:solidFill>
                  <a:srgbClr val="FF0000"/>
                </a:solidFill>
              </a:rPr>
              <a:t>ROOM</a:t>
            </a:r>
            <a:r>
              <a:rPr lang="en-US" dirty="0"/>
              <a:t>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410" y="1762125"/>
            <a:ext cx="293370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9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9745388" cy="4703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an </a:t>
            </a:r>
            <a:r>
              <a:rPr lang="en-US" dirty="0">
                <a:solidFill>
                  <a:srgbClr val="FF0000"/>
                </a:solidFill>
              </a:rPr>
              <a:t>ATTENDEE</a:t>
            </a:r>
            <a:r>
              <a:rPr lang="en-US" dirty="0"/>
              <a:t> wants to attend a </a:t>
            </a:r>
            <a:r>
              <a:rPr lang="en-US" dirty="0">
                <a:solidFill>
                  <a:srgbClr val="FF0000"/>
                </a:solidFill>
              </a:rPr>
              <a:t>PRESENTATION</a:t>
            </a:r>
            <a:r>
              <a:rPr lang="en-US" dirty="0"/>
              <a:t>, they can acquire a ticket with a ticket id </a:t>
            </a:r>
          </a:p>
          <a:p>
            <a:pPr marL="0" indent="0">
              <a:buNone/>
            </a:pPr>
            <a:r>
              <a:rPr lang="en-US" dirty="0"/>
              <a:t>We can use these tickets to keep track of presentation attendance</a:t>
            </a:r>
          </a:p>
          <a:p>
            <a:pPr marL="0" indent="0">
              <a:buNone/>
            </a:pPr>
            <a:r>
              <a:rPr lang="en-US" dirty="0"/>
              <a:t>Each presentation attendance is defined with these attributes:</a:t>
            </a:r>
          </a:p>
          <a:p>
            <a:pPr lvl="1"/>
            <a:r>
              <a:rPr lang="en-US" sz="1800" dirty="0"/>
              <a:t>Ticket ID</a:t>
            </a:r>
          </a:p>
          <a:p>
            <a:pPr lvl="1"/>
            <a:r>
              <a:rPr lang="en-US" sz="1800" dirty="0"/>
              <a:t>Presentation ID</a:t>
            </a:r>
          </a:p>
          <a:p>
            <a:pPr lvl="1"/>
            <a:r>
              <a:rPr lang="en-US" sz="1800" dirty="0"/>
              <a:t>Attendee 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 the right is our design for the </a:t>
            </a:r>
            <a:r>
              <a:rPr lang="en-US" dirty="0">
                <a:solidFill>
                  <a:srgbClr val="FF0000"/>
                </a:solidFill>
              </a:rPr>
              <a:t>PRESENTATION_ATTENDANCE</a:t>
            </a:r>
            <a:r>
              <a:rPr lang="en-US" dirty="0"/>
              <a:t>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PRESENTATION_ATTENDANCE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60" y="2240280"/>
            <a:ext cx="4038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08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r>
              <a:rPr lang="en-US" dirty="0"/>
              <a:t>With table relationships it is important to distinguish the primary key from the foreign key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The field that </a:t>
            </a:r>
            <a:r>
              <a:rPr lang="en-US" sz="1800" i="1" dirty="0"/>
              <a:t>supplies</a:t>
            </a:r>
            <a:r>
              <a:rPr lang="en-US" sz="1800" dirty="0"/>
              <a:t> data to other tables is the </a:t>
            </a:r>
            <a:r>
              <a:rPr lang="en-US" sz="1800" b="1" dirty="0"/>
              <a:t>primary key</a:t>
            </a:r>
            <a:r>
              <a:rPr lang="en-US" sz="1800" dirty="0"/>
              <a:t>, and a field that receives data from another table is a </a:t>
            </a:r>
            <a:r>
              <a:rPr lang="en-US" sz="1800" b="1" dirty="0"/>
              <a:t>foreign key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Primary/Foreign Keys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D8866-10FA-4159-AA50-8B6AD743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807" y="1970291"/>
            <a:ext cx="6174298" cy="29919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BC3EFF-B784-42CD-93E9-8A47B9794591}"/>
              </a:ext>
            </a:extLst>
          </p:cNvPr>
          <p:cNvSpPr txBox="1"/>
          <p:nvPr/>
        </p:nvSpPr>
        <p:spPr>
          <a:xfrm>
            <a:off x="2667700" y="2625754"/>
            <a:ext cx="1125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D462F"/>
                </a:solidFill>
              </a:rPr>
              <a:t>Primary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D6171-C35B-4272-AD7B-1EA860C7D5F0}"/>
              </a:ext>
            </a:extLst>
          </p:cNvPr>
          <p:cNvSpPr txBox="1"/>
          <p:nvPr/>
        </p:nvSpPr>
        <p:spPr>
          <a:xfrm>
            <a:off x="5972378" y="4875402"/>
            <a:ext cx="1116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DD462F"/>
                </a:solidFill>
              </a:rPr>
              <a:t>Foreign Key</a:t>
            </a:r>
          </a:p>
        </p:txBody>
      </p:sp>
    </p:spTree>
    <p:extLst>
      <p:ext uri="{BB962C8B-B14F-4D97-AF65-F5344CB8AC3E}">
        <p14:creationId xmlns:p14="http://schemas.microsoft.com/office/powerpoint/2010/main" val="194650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With our knowledge of primary and foreign keys, we can create a </a:t>
            </a:r>
            <a:r>
              <a:rPr lang="en-US" b="1" dirty="0"/>
              <a:t>database schema</a:t>
            </a:r>
            <a:r>
              <a:rPr lang="en-US" dirty="0"/>
              <a:t> of all tables and their relationships for the </a:t>
            </a:r>
            <a:r>
              <a:rPr lang="en-US" dirty="0" err="1"/>
              <a:t>SurgeTech</a:t>
            </a:r>
            <a:r>
              <a:rPr lang="en-US" dirty="0"/>
              <a:t> conference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Database Schema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538" y="2211952"/>
            <a:ext cx="7133221" cy="3865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81538" y="5738508"/>
            <a:ext cx="508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*Primary Key → Foreign Key</a:t>
            </a:r>
          </a:p>
        </p:txBody>
      </p:sp>
    </p:spTree>
    <p:extLst>
      <p:ext uri="{BB962C8B-B14F-4D97-AF65-F5344CB8AC3E}">
        <p14:creationId xmlns:p14="http://schemas.microsoft.com/office/powerpoint/2010/main" val="17587360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42" y="2251910"/>
            <a:ext cx="7408309" cy="3977702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41612" y="1431014"/>
            <a:ext cx="10213074" cy="5426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can be overwhelming seeing all tables and their relationships at once, so the secret to reviewing a database schema is to focus on 2-3 tables at a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1538" y="5738508"/>
            <a:ext cx="5083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*Primary Key → Foreign Key</a:t>
            </a:r>
          </a:p>
        </p:txBody>
      </p:sp>
    </p:spTree>
    <p:extLst>
      <p:ext uri="{BB962C8B-B14F-4D97-AF65-F5344CB8AC3E}">
        <p14:creationId xmlns:p14="http://schemas.microsoft.com/office/powerpoint/2010/main" val="30474120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 for Win32.potx" id="{CC5B85EF-600B-41EE-B0F1-7BF5BD14BEC8}" vid="{67085E21-9FFC-49E7-8EF1-8FBDD268C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1860</TotalTime>
  <Words>2154</Words>
  <Application>Microsoft Macintosh PowerPoint</Application>
  <PresentationFormat>Widescreen</PresentationFormat>
  <Paragraphs>350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Segoe UI</vt:lpstr>
      <vt:lpstr>Segoe UI Light</vt:lpstr>
      <vt:lpstr>Source Sans Pro</vt:lpstr>
      <vt:lpstr>WelcomeDoc</vt:lpstr>
      <vt:lpstr>SQL Fundamentals for Data</vt:lpstr>
      <vt:lpstr>What to Expect in the Next Two Days</vt:lpstr>
      <vt:lpstr>Supplementary Material </vt:lpstr>
      <vt:lpstr>Why Learn SQL?</vt:lpstr>
      <vt:lpstr>Section I</vt:lpstr>
      <vt:lpstr>What is a Database?</vt:lpstr>
      <vt:lpstr>Understanding Relational Databases</vt:lpstr>
      <vt:lpstr>Why Separate Tables?</vt:lpstr>
      <vt:lpstr>Why Separate Tables?</vt:lpstr>
      <vt:lpstr>Exercise 1.1</vt:lpstr>
      <vt:lpstr>Exercise 1.1</vt:lpstr>
      <vt:lpstr>Exercise 1.1</vt:lpstr>
      <vt:lpstr>Exercise 1.1</vt:lpstr>
      <vt:lpstr>Types of Databases</vt:lpstr>
      <vt:lpstr>NoSQL and “Big Data” </vt:lpstr>
      <vt:lpstr>SQL vs NoSQL</vt:lpstr>
      <vt:lpstr>SQL versus NoSQL Summary</vt:lpstr>
      <vt:lpstr>Lightweight vs Centralized Databases</vt:lpstr>
      <vt:lpstr>Lightweight Databases</vt:lpstr>
      <vt:lpstr>Centralized Databases</vt:lpstr>
      <vt:lpstr>Typical Centralized Database Setup</vt:lpstr>
      <vt:lpstr>Typical Centralized Database Setup</vt:lpstr>
      <vt:lpstr>Typical Centralized Database Setup</vt:lpstr>
      <vt:lpstr>What We Will Use   </vt:lpstr>
      <vt:lpstr>Exercise 1.2</vt:lpstr>
      <vt:lpstr>PowerPoint Presentation</vt:lpstr>
      <vt:lpstr>Revisiting Table Relationships</vt:lpstr>
      <vt:lpstr>Parent/Child Tables</vt:lpstr>
      <vt:lpstr>Primary/Foreign Keys </vt:lpstr>
      <vt:lpstr>INNER JOIN</vt:lpstr>
      <vt:lpstr>LEFT OUTER JOIN</vt:lpstr>
      <vt:lpstr>LEFT OUTER JOIN</vt:lpstr>
      <vt:lpstr>Joining Multiple Tables</vt:lpstr>
      <vt:lpstr>PowerPoint Presentation</vt:lpstr>
      <vt:lpstr>Planning a Database </vt:lpstr>
      <vt:lpstr>Planning a Database </vt:lpstr>
      <vt:lpstr>Planning a Database </vt:lpstr>
      <vt:lpstr>Preventing SQL Injection </vt:lpstr>
      <vt:lpstr>Preventing SQL Injection</vt:lpstr>
      <vt:lpstr>SQL Injection Humor</vt:lpstr>
      <vt:lpstr>SQL Injection in the News</vt:lpstr>
      <vt:lpstr>The SurgeTech Conference</vt:lpstr>
      <vt:lpstr>ATTENDEE</vt:lpstr>
      <vt:lpstr>COMPANY</vt:lpstr>
      <vt:lpstr>PRESENTATION</vt:lpstr>
      <vt:lpstr>ROOM</vt:lpstr>
      <vt:lpstr>PRESENTATION_ATTENDANCE</vt:lpstr>
      <vt:lpstr>Revisiting Primary/Foreign Keys</vt:lpstr>
      <vt:lpstr>The Database Schema</vt:lpstr>
      <vt:lpstr>The Database Schema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Fundamentals for Data</dc:title>
  <dc:creator>Thomas Nield</dc:creator>
  <cp:keywords/>
  <cp:lastModifiedBy>Thomas Nield</cp:lastModifiedBy>
  <cp:revision>238</cp:revision>
  <dcterms:created xsi:type="dcterms:W3CDTF">2016-08-14T20:32:10Z</dcterms:created>
  <dcterms:modified xsi:type="dcterms:W3CDTF">2025-09-06T14:12:24Z</dcterms:modified>
  <cp:version/>
</cp:coreProperties>
</file>